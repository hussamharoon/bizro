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name and the promise: Bizro gives the paper khata a memory. One sentence on who it is for — the Pakistani micro-entrepreneur who already runs his business on WhatsApp. Then move straight into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about one in ten Pakistani adults has a formal financial account, against a South Asian average near a third. And the blocker isn't money — a meaningful share of small businesses say they are waiting for a Shariah-compliant option. These people are creditworthy; they are just invisible on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lending rail already exists: Alkhidmat's Mawakhat program runs Qarz-e-Hasna, interest-free microfinance funded by zakat — roughly 800 branches in 400-plus cities, loans of 30 to 75 thousand rupees, and a claimed 99.9 percent repayment rate. The one thing Mawakhat cannot see is the shopkeeper's business history, because it lives in a handwritten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Bizro is a zero-typing Voice and Vision copilot. He sends the WhatsApp voice note he was sending anyway; he photographs the receipt he already keeps. Bizro turns both into structured ledger entries — and months of those become a credit history a lender like Mawakhat can actually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mock-up — the product is deployed and running live at this URL right now. In the simulator you record an Urdu voice note or upload a receipt photo, and the real pipeline parses it, stamps it, and writes it into the ledger. If time allows we will do this on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flow is three taps' worth of effort. Step one: he sends a voice note and gets a stamped invoice back. Step two: one photo of a handwritten receipt logs the expense and flags pricing errors. Step three, months later: one tap produces the Credit Readiness Report in a format Mawakhat loan officers already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backbone is deliberately provider-agnostic. Voice goes to Qwen ASR, then to structured JSON with confidence scores, then to a lender-ready narrative. It runs on Qwen through Alibaba Cloud Model Studio today — speech, vision and parsing — verified live in production, with a Groq Whisper backup for speech. Swapping any model is literally one environment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Trust is the product, not a feature. Every parsed entry keeps its source — the actual voice note or receipt photo — plus a confidence score, and any mistake is one tap from corrected. That visible trail is what lets a loan officer trust the report as much as the shopkeeper trusts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separate Bizro from a generic OCR-plus-chatbot. Udhar Radar tracks money owed TO the shop — the real job of a paper khata, which digitization tools miss. Every entry carries its audit trail. And the report is shaped for Mawakhat specifically: a lender that already exists and already wants this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impact: months of voice notes he was already sending become a credit history a lender can read — for the millions of unbanked micro-entrepreneurs of Pakistan. No behavior change is required; the voice note and the receipt photo already exist. Bizro simply makes them legible to the rail that was built for him.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tagline: the paper khata, given a memory. The product is live at this URL today, and a full demo is available on request. Thank the judges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0432" y="1490472"/>
            <a:ext cx="9966960" cy="3749039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417320"/>
            <a:ext cx="9966960" cy="3749039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5872" y="484632"/>
            <a:ext cx="1325880" cy="1325880"/>
          </a:xfrm>
          <a:prstGeom prst="ellipse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0" y="411480"/>
            <a:ext cx="1325880" cy="1325880"/>
          </a:xfrm>
          <a:prstGeom prst="ellipse">
            <a:avLst/>
          </a:prstGeom>
          <a:solidFill>
            <a:srgbClr val="E9A93D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1F1B16"/>
                </a:solidFill>
                <a:latin typeface="Arial Black"/>
              </a:rPr>
              <a:t>BIZRO</a:t>
            </a:r>
          </a:p>
          <a:p>
            <a:pPr algn="ctr"/>
            <a:r>
              <a:rPr sz="1100" b="1">
                <a:solidFill>
                  <a:srgbClr val="1F1B16"/>
                </a:solidFill>
                <a:latin typeface="Arial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941832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0" b="0">
                <a:solidFill>
                  <a:srgbClr val="1F1B16"/>
                </a:solidFill>
                <a:latin typeface="Arial Black"/>
              </a:rPr>
              <a:t>Bizro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74920" y="3520440"/>
            <a:ext cx="2011680" cy="109728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794760"/>
            <a:ext cx="94183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1F1B16"/>
                </a:solidFill>
                <a:latin typeface="Arial"/>
              </a:rPr>
              <a:t>The paper khata, given a memory.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480560"/>
            <a:ext cx="9418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7A6C"/>
                </a:solidFill>
                <a:latin typeface="Arial"/>
              </a:rPr>
              <a:t>A zero-typing Voice &amp; Vision copilot for Pakistan's micro-entrepreneurs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70432" y="5879592"/>
            <a:ext cx="9966960" cy="64008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5806440"/>
            <a:ext cx="9966960" cy="640080"/>
          </a:xfrm>
          <a:prstGeom prst="rect">
            <a:avLst/>
          </a:prstGeom>
          <a:solidFill>
            <a:srgbClr val="1F1B16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897880"/>
            <a:ext cx="9418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5F1E6"/>
                </a:solidFill>
                <a:latin typeface="Arial"/>
              </a:rPr>
              <a:t>Bano Qabil × Alibaba Cloud AI Hackathon Pakistan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572768" cy="310896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12324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0">
                <a:solidFill>
                  <a:srgbClr val="1F1B16"/>
                </a:solidFill>
                <a:latin typeface="Arial Black"/>
              </a:rPr>
              <a:t>Creditworthy, but invisible to the lender meant for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73656"/>
            <a:ext cx="2011680" cy="82296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2466848"/>
            <a:ext cx="3520440" cy="3977639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93696"/>
            <a:ext cx="3520440" cy="3977639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622296"/>
            <a:ext cx="1426464" cy="310896"/>
          </a:xfrm>
          <a:prstGeom prst="rect">
            <a:avLst/>
          </a:prstGeom>
          <a:solidFill>
            <a:srgbClr val="A6332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Formal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70936"/>
            <a:ext cx="306324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0">
                <a:solidFill>
                  <a:srgbClr val="A6332B"/>
                </a:solidFill>
                <a:latin typeface="Arial Black"/>
              </a:rPr>
              <a:t>10.3%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25416"/>
            <a:ext cx="306324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F1B16"/>
                </a:solidFill>
                <a:latin typeface="Arial"/>
              </a:rPr>
              <a:t>of Pakistani adults hold a formal financial-institution account — World Bank Global Findex.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2466848"/>
            <a:ext cx="3520440" cy="3977639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8536" y="2393696"/>
            <a:ext cx="3520440" cy="3977639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17136" y="2622296"/>
            <a:ext cx="2249424" cy="310896"/>
          </a:xfrm>
          <a:prstGeom prst="rect">
            <a:avLst/>
          </a:prstGeom>
          <a:solidFill>
            <a:srgbClr val="1F7A6C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South Asia, for contrast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3170936"/>
            <a:ext cx="306324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0">
                <a:solidFill>
                  <a:srgbClr val="1F7A6C"/>
                </a:solidFill>
                <a:latin typeface="Arial Black"/>
              </a:rPr>
              <a:t>~33%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4725416"/>
            <a:ext cx="306324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F1B16"/>
                </a:solidFill>
                <a:latin typeface="Arial"/>
              </a:rPr>
              <a:t>the South Asian average of adults with a formal financial-institution account (World Bank Global Findex).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4" y="2466848"/>
            <a:ext cx="3520440" cy="3977639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2" y="2393696"/>
            <a:ext cx="3520440" cy="3977639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57032" y="2622296"/>
            <a:ext cx="1179576" cy="310896"/>
          </a:xfrm>
          <a:prstGeom prst="rect">
            <a:avLst/>
          </a:prstGeom>
          <a:solidFill>
            <a:srgbClr val="E9A93D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1F1B16"/>
                </a:solidFill>
                <a:latin typeface="Arial"/>
              </a:rPr>
              <a:t>The blocker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3170936"/>
            <a:ext cx="306324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>
                <a:solidFill>
                  <a:srgbClr val="E9A93D"/>
                </a:solidFill>
                <a:latin typeface="Arial Black"/>
              </a:rPr>
              <a:t>Shariah- compliant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4725416"/>
            <a:ext cx="306324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F1B16"/>
                </a:solidFill>
                <a:latin typeface="Arial"/>
              </a:rPr>
              <a:t>small businesses avoiding formal finance cite one specific reason: they are waiting for a Shariah-compliant option, not an interest-bearing 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08496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F1B16"/>
                </a:solidFill>
                <a:latin typeface="Arial"/>
              </a:rPr>
              <a:t>The gap isn't creditworthiness — it's legibility.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2807208" cy="310896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Mawakhat · Alkhidmat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6710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0">
                <a:solidFill>
                  <a:srgbClr val="1F1B16"/>
                </a:solidFill>
                <a:latin typeface="Arial Black"/>
              </a:rPr>
              <a:t>The interest-free rail already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12316"/>
            <a:ext cx="2011680" cy="82296"/>
          </a:xfrm>
          <a:prstGeom prst="rect">
            <a:avLst/>
          </a:prstGeom>
          <a:solidFill>
            <a:srgbClr val="E9A93D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905508"/>
            <a:ext cx="11091672" cy="137160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32356"/>
            <a:ext cx="11091672" cy="137160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5236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F1B16"/>
                </a:solidFill>
                <a:latin typeface="Arial"/>
              </a:rPr>
              <a:t>Alkhidmat's Mawakhat program is Qarz-e-Hasna (interest-free) microfinance funded through zakat and sadaqat — the credit product these shopkeepers would actually accept.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3551428"/>
            <a:ext cx="3520440" cy="155448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478276"/>
            <a:ext cx="3520440" cy="155448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478276"/>
            <a:ext cx="128016" cy="1554480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61156"/>
            <a:ext cx="2971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0B5D3B"/>
                </a:solidFill>
                <a:latin typeface="Arial Black"/>
              </a:rPr>
              <a:t>~800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46956"/>
            <a:ext cx="2971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1B16"/>
                </a:solidFill>
                <a:latin typeface="Arial"/>
              </a:rPr>
              <a:t>branches across 400+ cities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1688" y="3551428"/>
            <a:ext cx="3520440" cy="155448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3478276"/>
            <a:ext cx="3520440" cy="155448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8536" y="3478276"/>
            <a:ext cx="128016" cy="1554480"/>
          </a:xfrm>
          <a:prstGeom prst="rect">
            <a:avLst/>
          </a:prstGeom>
          <a:solidFill>
            <a:srgbClr val="1F7A6C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3661156"/>
            <a:ext cx="2971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F7A6C"/>
                </a:solidFill>
                <a:latin typeface="Arial Black"/>
              </a:rPr>
              <a:t>PKR 30–75k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4346956"/>
            <a:ext cx="2971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1B16"/>
                </a:solidFill>
                <a:latin typeface="Arial"/>
              </a:rPr>
              <a:t>typical Qarz-e-Hasna loan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1584" y="3551428"/>
            <a:ext cx="3520440" cy="155448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2" y="3478276"/>
            <a:ext cx="3520440" cy="155448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2" y="3478276"/>
            <a:ext cx="128016" cy="1554480"/>
          </a:xfrm>
          <a:prstGeom prst="rect">
            <a:avLst/>
          </a:prstGeom>
          <a:solidFill>
            <a:srgbClr val="A6332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3661156"/>
            <a:ext cx="2971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A6332B"/>
                </a:solidFill>
                <a:latin typeface="Arial Black"/>
              </a:rPr>
              <a:t>99.9%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4346956"/>
            <a:ext cx="2971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1B16"/>
                </a:solidFill>
                <a:latin typeface="Arial"/>
              </a:rPr>
              <a:t>repayment rate*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5380228"/>
            <a:ext cx="11091672" cy="105156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307076"/>
            <a:ext cx="11091672" cy="1051560"/>
          </a:xfrm>
          <a:prstGeom prst="rect">
            <a:avLst/>
          </a:prstGeom>
          <a:solidFill>
            <a:srgbClr val="1F1B16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71668"/>
            <a:ext cx="105156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F5F1E6"/>
                </a:solidFill>
                <a:latin typeface="Arial Black"/>
              </a:rPr>
              <a:t>What it can't see is a business history that lives in a handwritten notebook.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5796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1B16"/>
                </a:solidFill>
                <a:latin typeface="Arial"/>
              </a:rPr>
              <a:t>*as claimed by Mawakhat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243584" cy="310896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6710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0">
                <a:solidFill>
                  <a:srgbClr val="1F1B16"/>
                </a:solidFill>
                <a:latin typeface="Arial Black"/>
              </a:rPr>
              <a:t>Bizro, in one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12316"/>
            <a:ext cx="2011680" cy="82296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905508"/>
            <a:ext cx="11091672" cy="141732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32356"/>
            <a:ext cx="11091672" cy="1417320"/>
          </a:xfrm>
          <a:prstGeom prst="rect">
            <a:avLst/>
          </a:prstGeom>
          <a:solidFill>
            <a:srgbClr val="0B5D3B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6948"/>
            <a:ext cx="10424160" cy="1143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>
                <a:solidFill>
                  <a:srgbClr val="F5F1E6"/>
                </a:solidFill>
                <a:latin typeface="Arial Black"/>
              </a:rPr>
              <a:t>A zero-typing Voice &amp; Vision copilot that turns WhatsApp voice notes and receipt photos into a lender-legible credit history.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3688588"/>
            <a:ext cx="3383280" cy="265176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615436"/>
            <a:ext cx="3383280" cy="265176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3816604"/>
            <a:ext cx="1234440" cy="310896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300" b="1">
                <a:solidFill>
                  <a:srgbClr val="F5F1E6"/>
                </a:solidFill>
                <a:latin typeface="Arial"/>
              </a:rPr>
              <a:t>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273804"/>
            <a:ext cx="2980944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1B16"/>
                </a:solidFill>
                <a:latin typeface="Arial Black"/>
              </a:rPr>
              <a:t>Send the voice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804156"/>
            <a:ext cx="2980944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1F1B16"/>
                </a:solidFill>
                <a:latin typeface="Arial"/>
              </a:rPr>
              <a:t>Parsed into a structured sale or credit entry; a stamped invoice returns on WhatsApp.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855716"/>
            <a:ext cx="2980944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5D3B"/>
                </a:solidFill>
                <a:latin typeface="Arial"/>
              </a:rPr>
              <a:t>Qwen ASR + Qwen Flash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86784" y="4621276"/>
            <a:ext cx="4572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1F1B16"/>
                </a:solidFill>
                <a:latin typeface="Arial Black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07992" y="3688588"/>
            <a:ext cx="3383280" cy="265176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3615436"/>
            <a:ext cx="3383280" cy="265176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36008" y="3816604"/>
            <a:ext cx="1234440" cy="310896"/>
          </a:xfrm>
          <a:prstGeom prst="rect">
            <a:avLst/>
          </a:prstGeom>
          <a:solidFill>
            <a:srgbClr val="1F7A6C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300" b="1">
                <a:solidFill>
                  <a:srgbClr val="F5F1E6"/>
                </a:solidFill>
                <a:latin typeface="Arial"/>
              </a:rPr>
              <a:t>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4273804"/>
            <a:ext cx="2980944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1B16"/>
                </a:solidFill>
                <a:latin typeface="Arial Black"/>
              </a:rPr>
              <a:t>Photograph the receipt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4804156"/>
            <a:ext cx="2980944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1F1B16"/>
                </a:solidFill>
                <a:latin typeface="Arial"/>
              </a:rPr>
              <a:t>The expense is logged — and obvious pricing errors are flagged.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5855716"/>
            <a:ext cx="2980944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7A6C"/>
                </a:solidFill>
                <a:latin typeface="Arial"/>
              </a:rPr>
              <a:t>Qwen-VL-OCR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72984" y="4621276"/>
            <a:ext cx="4572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1F1B16"/>
                </a:solidFill>
                <a:latin typeface="Arial Black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94192" y="3688588"/>
            <a:ext cx="3383280" cy="265176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3615436"/>
            <a:ext cx="3383280" cy="265176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22208" y="3816604"/>
            <a:ext cx="1234440" cy="310896"/>
          </a:xfrm>
          <a:prstGeom prst="rect">
            <a:avLst/>
          </a:prstGeom>
          <a:solidFill>
            <a:srgbClr val="E9A93D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300" b="1">
                <a:solidFill>
                  <a:srgbClr val="1F1B16"/>
                </a:solidFill>
                <a:latin typeface="Arial"/>
              </a:rPr>
              <a:t>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8" y="4273804"/>
            <a:ext cx="2980944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1B16"/>
                </a:solidFill>
                <a:latin typeface="Arial Black"/>
              </a:rPr>
              <a:t>Tap, months later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4804156"/>
            <a:ext cx="2980944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1F1B16"/>
                </a:solidFill>
                <a:latin typeface="Arial"/>
              </a:rPr>
              <a:t>Accumulated history becomes a Mawakhat-style Credit Readiness Report.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5855716"/>
            <a:ext cx="2980944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A6332B"/>
                </a:solidFill>
                <a:latin typeface="Arial"/>
              </a:rPr>
              <a:t>Qwen Flash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50076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1B16"/>
                </a:solidFill>
                <a:latin typeface="Arial"/>
              </a:rPr>
              <a:t>No typing. No new app. No new habit.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408176" cy="310896"/>
          </a:xfrm>
          <a:prstGeom prst="rect">
            <a:avLst/>
          </a:prstGeom>
          <a:solidFill>
            <a:srgbClr val="A6332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02 ·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6710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0">
                <a:solidFill>
                  <a:srgbClr val="1F1B16"/>
                </a:solidFill>
                <a:latin typeface="Arial Black"/>
              </a:rPr>
              <a:t>This is running live right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12316"/>
            <a:ext cx="2011680" cy="82296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905508"/>
            <a:ext cx="6675120" cy="228600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32356"/>
            <a:ext cx="6675120" cy="2286000"/>
          </a:xfrm>
          <a:prstGeom prst="rect">
            <a:avLst/>
          </a:prstGeom>
          <a:solidFill>
            <a:srgbClr val="1F1B16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6676"/>
            <a:ext cx="6035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E9A93D"/>
                </a:solidFill>
                <a:latin typeface="Arial Black"/>
              </a:rPr>
              <a:t>https://bizro-pk.vercel.app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8196"/>
            <a:ext cx="603504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5F1E6"/>
                </a:solidFill>
                <a:latin typeface="Arial"/>
              </a:rPr>
              <a:t>Record a voice note.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F5F1E6"/>
                </a:solidFill>
                <a:latin typeface="Arial"/>
              </a:rPr>
              <a:t>Watch it become a ledger entry.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71231" y="1905508"/>
            <a:ext cx="4114800" cy="228600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832356"/>
            <a:ext cx="4114800" cy="228600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emo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4394" y="1942084"/>
            <a:ext cx="2051034" cy="206654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21792" y="4511548"/>
            <a:ext cx="11064240" cy="214884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438396"/>
            <a:ext cx="11064240" cy="214884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21276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6332B"/>
                </a:solidFill>
                <a:latin typeface="Arial Black"/>
              </a:rPr>
              <a:t>DEMO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32756"/>
            <a:ext cx="1042416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1B16"/>
                </a:solidFill>
                <a:latin typeface="Arial"/>
              </a:rPr>
              <a:t>1 · Open the live simulator — a WhatsApp-style chat with Bizro.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1B16"/>
                </a:solidFill>
                <a:latin typeface="Arial"/>
              </a:rPr>
              <a:t>2 · Record an Urdu voice note, or drop in a receipt photo.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1B16"/>
                </a:solidFill>
                <a:latin typeface="Arial"/>
              </a:rPr>
              <a:t>3 · Watch the pipeline parse it, stamp it, and log it to the ledger.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655064" cy="310896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03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1100327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3000" b="0">
                <a:solidFill>
                  <a:srgbClr val="1F1B16"/>
                </a:solidFill>
                <a:latin typeface="Arial Black"/>
              </a:rPr>
              <a:t>Three taps' worth of effort — months' worth of credit history.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41576"/>
            <a:ext cx="2011680" cy="82296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2426208"/>
            <a:ext cx="3611880" cy="393192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53056"/>
            <a:ext cx="3611880" cy="393192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2554224"/>
            <a:ext cx="1426464" cy="310896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Step 1 · 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038856"/>
            <a:ext cx="3209544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0">
                <a:solidFill>
                  <a:srgbClr val="1F1B16"/>
                </a:solidFill>
                <a:latin typeface="Arial Black"/>
              </a:rPr>
              <a:t>Send the voice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816096"/>
            <a:ext cx="3209544" cy="1783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1B16"/>
                </a:solidFill>
                <a:latin typeface="Arial"/>
              </a:rPr>
              <a:t>A casual Urdu voice note, the way he'd talk to an employee. It's parsed into a structured sale or credit entry, and a stamped invoice comes straight back on WhatsApp.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5644896"/>
            <a:ext cx="3209544" cy="27432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736336"/>
            <a:ext cx="320954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D3B"/>
                </a:solidFill>
                <a:latin typeface="Arial"/>
              </a:rPr>
              <a:t>Qwen ASR + Qwen Flash · WhatsApp in / 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8" y="2426208"/>
            <a:ext cx="3611880" cy="393192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8536" y="2353056"/>
            <a:ext cx="3611880" cy="393192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9704" y="2554224"/>
            <a:ext cx="1508760" cy="310896"/>
          </a:xfrm>
          <a:prstGeom prst="rect">
            <a:avLst/>
          </a:prstGeom>
          <a:solidFill>
            <a:srgbClr val="1F7A6C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Step 2 · 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3038856"/>
            <a:ext cx="3209544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0">
                <a:solidFill>
                  <a:srgbClr val="1F1B16"/>
                </a:solidFill>
                <a:latin typeface="Arial Black"/>
              </a:rPr>
              <a:t>Photograph the receipt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3816096"/>
            <a:ext cx="3209544" cy="1783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1B16"/>
                </a:solidFill>
                <a:latin typeface="Arial"/>
              </a:rPr>
              <a:t>One photo of the messy, handwritten supplier receipt. The expense is logged — and obvious pricing errors are flagged before they can hide in a hand-tallied notebook.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9704" y="5644896"/>
            <a:ext cx="3209544" cy="27432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5736336"/>
            <a:ext cx="320954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7A6C"/>
                </a:solidFill>
                <a:latin typeface="Arial"/>
              </a:rPr>
              <a:t>Qwen-VL-OCR · Price-error flags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1584" y="2426208"/>
            <a:ext cx="3611880" cy="393192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2" y="2353056"/>
            <a:ext cx="3611880" cy="393192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2554224"/>
            <a:ext cx="1508760" cy="310896"/>
          </a:xfrm>
          <a:prstGeom prst="rect">
            <a:avLst/>
          </a:prstGeom>
          <a:solidFill>
            <a:srgbClr val="E9A93D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1F1B16"/>
                </a:solidFill>
                <a:latin typeface="Arial"/>
              </a:rPr>
              <a:t>Step 3 ·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038856"/>
            <a:ext cx="3209544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0">
                <a:solidFill>
                  <a:srgbClr val="1F1B16"/>
                </a:solidFill>
                <a:latin typeface="Arial Black"/>
              </a:rPr>
              <a:t>Tap, months later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816096"/>
            <a:ext cx="3209544" cy="1783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1B16"/>
                </a:solidFill>
                <a:latin typeface="Arial"/>
              </a:rPr>
              <a:t>One tap turns months of accumulated, source-linked history into a Mawakhat-style Credit Readiness Report — with a full audit trail a loan officer can drill into.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5644896"/>
            <a:ext cx="3209544" cy="27432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5736336"/>
            <a:ext cx="320954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6332B"/>
                </a:solidFill>
                <a:latin typeface="Arial"/>
              </a:rPr>
              <a:t>Qwen Flash · Mawakhat-style format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67856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1B16"/>
                </a:solidFill>
                <a:latin typeface="Arial"/>
              </a:rPr>
              <a:t>Zero typing, all of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78992" cy="310896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6710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0">
                <a:solidFill>
                  <a:srgbClr val="1F1B16"/>
                </a:solidFill>
                <a:latin typeface="Arial Black"/>
              </a:rPr>
              <a:t>Provider-agnostic AI backbone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12316"/>
            <a:ext cx="2011680" cy="82296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996948"/>
            <a:ext cx="3383280" cy="237744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3796"/>
            <a:ext cx="3383280" cy="237744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3796"/>
            <a:ext cx="3383280" cy="146304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43836"/>
            <a:ext cx="2980944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0">
                <a:solidFill>
                  <a:srgbClr val="1F1B16"/>
                </a:solidFill>
                <a:latin typeface="Arial Black"/>
              </a:rPr>
              <a:t>1 · Speech-to-text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883916"/>
            <a:ext cx="2980944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1B16"/>
                </a:solidFill>
                <a:latin typeface="Arial"/>
              </a:rPr>
              <a:t>Urdu / mixed-language voice note → transcript. Runs on Qwen ASR (qwen3-asr-flash).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86784" y="2792476"/>
            <a:ext cx="4572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1F1B16"/>
                </a:solidFill>
                <a:latin typeface="Arial Black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2" y="1996948"/>
            <a:ext cx="3383280" cy="237744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923796"/>
            <a:ext cx="3383280" cy="237744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923796"/>
            <a:ext cx="3383280" cy="146304"/>
          </a:xfrm>
          <a:prstGeom prst="rect">
            <a:avLst/>
          </a:prstGeom>
          <a:solidFill>
            <a:srgbClr val="1F7A6C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243836"/>
            <a:ext cx="2980944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0">
                <a:solidFill>
                  <a:srgbClr val="1F1B16"/>
                </a:solidFill>
                <a:latin typeface="Arial Black"/>
              </a:rPr>
              <a:t>2 · Structured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2883916"/>
            <a:ext cx="2980944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1B16"/>
                </a:solidFill>
                <a:latin typeface="Arial"/>
              </a:rPr>
              <a:t>Transcript &amp; receipt photo → typed transaction JSON with confidence scores. Qwen-VL-OCR reads the receipts.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2984" y="2792476"/>
            <a:ext cx="4572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1F1B16"/>
                </a:solidFill>
                <a:latin typeface="Arial Black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94192" y="1996948"/>
            <a:ext cx="3383280" cy="237744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923796"/>
            <a:ext cx="3383280" cy="237744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1923796"/>
            <a:ext cx="3383280" cy="146304"/>
          </a:xfrm>
          <a:prstGeom prst="rect">
            <a:avLst/>
          </a:prstGeom>
          <a:solidFill>
            <a:srgbClr val="E9A93D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2243836"/>
            <a:ext cx="2980944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0">
                <a:solidFill>
                  <a:srgbClr val="1F1B16"/>
                </a:solidFill>
                <a:latin typeface="Arial Black"/>
              </a:rPr>
              <a:t>3 · Urdu narrative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2883916"/>
            <a:ext cx="2980944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1B16"/>
                </a:solidFill>
                <a:latin typeface="Arial"/>
              </a:rPr>
              <a:t>Ledger history → a Credit Readiness Report a loan officer can read, reasoned by Qwen Flash.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4740148"/>
            <a:ext cx="11064240" cy="123444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666996"/>
            <a:ext cx="11064240" cy="1234440"/>
          </a:xfrm>
          <a:prstGeom prst="rect">
            <a:avLst/>
          </a:prstGeom>
          <a:solidFill>
            <a:srgbClr val="1F1B16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849876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9A93D"/>
                </a:solidFill>
                <a:latin typeface="Arial Black"/>
              </a:rPr>
              <a:t>Running end-to-end on Qwen today </a:t>
            </a:r>
            <a:r>
              <a:rPr sz="1800" b="0">
                <a:solidFill>
                  <a:srgbClr val="F5F1E6"/>
                </a:solidFill>
                <a:latin typeface="Arial"/>
              </a:rPr>
              <a:t>— speech, vision and parsing on Alibaba Cloud Model Studio, with a Groq Whisper backup. </a:t>
            </a:r>
            <a:r>
              <a:rPr sz="1800" b="1">
                <a:solidFill>
                  <a:srgbClr val="F5F1E6"/>
                </a:solidFill>
                <a:latin typeface="Arial"/>
              </a:rPr>
              <a:t>Provider-agnostic: one environment variable.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30036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F1B16"/>
                </a:solidFill>
                <a:latin typeface="Arial"/>
              </a:rPr>
              <a:t>Stack: Qwen (qwen3-asr-flash · qwen-flash · qwen-vl-ocr) · FastAPI + Neon Postgres · React dashboard · WhatsApp Cloud API, signatures enforced · Vercel.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737360" cy="310896"/>
          </a:xfrm>
          <a:prstGeom prst="rect">
            <a:avLst/>
          </a:prstGeom>
          <a:solidFill>
            <a:srgbClr val="1F7A6C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04 · Trust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12324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0">
                <a:solidFill>
                  <a:srgbClr val="1F1B16"/>
                </a:solidFill>
                <a:latin typeface="Arial Black"/>
              </a:rPr>
              <a:t>Every number traces to a voice note or a photo.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73656"/>
            <a:ext cx="2011680" cy="82296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2466848"/>
            <a:ext cx="5486400" cy="411480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93696"/>
            <a:ext cx="5486400" cy="411480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22296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6332B"/>
                </a:solidFill>
                <a:latin typeface="Arial Black"/>
              </a:rPr>
              <a:t>THE AUDIT TRAIL IS THE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79496"/>
            <a:ext cx="493776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F1B16"/>
                </a:solidFill>
                <a:latin typeface="Arial"/>
              </a:rPr>
              <a:t>In the live app, every field drills down to the original voice note or receipt photo behind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359656"/>
            <a:ext cx="91440" cy="914400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359656"/>
            <a:ext cx="4709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1B16"/>
                </a:solidFill>
                <a:latin typeface="Arial Black"/>
              </a:rPr>
              <a:t>Source + confidence, always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707128"/>
            <a:ext cx="4709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F1B16"/>
                </a:solidFill>
                <a:latin typeface="Arial"/>
              </a:rPr>
              <a:t>Every AI-parsed line keeps its source and a confidence score. A visible trail, not a black box.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456936"/>
            <a:ext cx="91440" cy="914400"/>
          </a:xfrm>
          <a:prstGeom prst="rect">
            <a:avLst/>
          </a:prstGeom>
          <a:solidFill>
            <a:srgbClr val="1F7A6C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456936"/>
            <a:ext cx="4709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1B16"/>
                </a:solidFill>
                <a:latin typeface="Arial Black"/>
              </a:rPr>
              <a:t>One-tap correct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804408"/>
            <a:ext cx="4709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F1B16"/>
                </a:solidFill>
                <a:latin typeface="Arial"/>
              </a:rPr>
              <a:t>Any entry can be fixed in one tap — and the correction is itself a trust signal.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28232" y="2466848"/>
            <a:ext cx="5257800" cy="411480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2393696"/>
            <a:ext cx="5257800" cy="411480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594864"/>
            <a:ext cx="4709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1B16"/>
                </a:solidFill>
                <a:latin typeface="Arial Black"/>
              </a:rPr>
              <a:t>Ledger entry · 12 Aug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32720" y="2576576"/>
            <a:ext cx="1005840" cy="310896"/>
          </a:xfrm>
          <a:prstGeom prst="rect">
            <a:avLst/>
          </a:prstGeom>
          <a:solidFill>
            <a:srgbClr val="A6332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F5F1E6"/>
                </a:solidFill>
                <a:latin typeface="Arial"/>
              </a:rPr>
              <a:t>UDHAR · ادھار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079496"/>
            <a:ext cx="4709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1F1B16"/>
                </a:solidFill>
                <a:latin typeface="Arial Black"/>
              </a:rPr>
              <a:t>Ahmad — credit given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628136"/>
            <a:ext cx="47091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0B5D3B"/>
                </a:solidFill>
                <a:latin typeface="Arial Black"/>
              </a:rPr>
              <a:t>PKR 5,000 </a:t>
            </a:r>
            <a:r>
              <a:rPr sz="1600" b="0">
                <a:solidFill>
                  <a:srgbClr val="1F7A6C"/>
                </a:solidFill>
                <a:latin typeface="Arial"/>
              </a:rPr>
              <a:t>پانچ ہزار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4725416"/>
            <a:ext cx="4663440" cy="18288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359656"/>
            <a:ext cx="4709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1B16"/>
                </a:solidFill>
                <a:latin typeface="Arial"/>
              </a:rPr>
              <a:t>Source: WhatsApp voice note · 0:14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9400" y="5200904"/>
            <a:ext cx="4663440" cy="18288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835144"/>
            <a:ext cx="4709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1B16"/>
                </a:solidFill>
                <a:latin typeface="Arial"/>
              </a:rPr>
              <a:t>Parsed by Qwen Flash · confidence 96%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0" y="5676392"/>
            <a:ext cx="4663440" cy="18288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5310632"/>
            <a:ext cx="4709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1B16"/>
                </a:solidFill>
                <a:latin typeface="Arial"/>
              </a:rPr>
              <a:t>One-tap correct — the fix is itself a trust signal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51392" y="5895848"/>
            <a:ext cx="2651760" cy="54864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78240" y="5822696"/>
            <a:ext cx="2651760" cy="548640"/>
          </a:xfrm>
          <a:prstGeom prst="rect">
            <a:avLst/>
          </a:prstGeom>
          <a:solidFill>
            <a:srgbClr val="E9A93D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5914136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F1B16"/>
                </a:solidFill>
                <a:latin typeface="Arial Black"/>
              </a:rPr>
              <a:t>AI-Parsed · Confirmed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408176" cy="310896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05 · Why Bizro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6710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0">
                <a:solidFill>
                  <a:srgbClr val="1F1B16"/>
                </a:solidFill>
                <a:latin typeface="Arial Black"/>
              </a:rPr>
              <a:t>More than “OCR plus a chatbot.”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12316"/>
            <a:ext cx="2011680" cy="82296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996948"/>
            <a:ext cx="3611880" cy="429768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3796"/>
            <a:ext cx="3611880" cy="429768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3796"/>
            <a:ext cx="128016" cy="4297680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52396"/>
            <a:ext cx="306324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0">
                <a:solidFill>
                  <a:srgbClr val="1F1B16"/>
                </a:solidFill>
                <a:latin typeface="Arial Black"/>
              </a:rPr>
              <a:t>Udhar Radar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021076"/>
            <a:ext cx="1984248" cy="310896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F5F1E6"/>
                </a:solidFill>
                <a:latin typeface="Arial"/>
              </a:rPr>
              <a:t>Money owed TO the 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3996"/>
            <a:ext cx="306324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1B16"/>
                </a:solidFill>
                <a:latin typeface="Arial"/>
              </a:rPr>
              <a:t>Flips the expense-tracker lens: Bizro tracks the money customers owe to the shopkeeper — the dominant real use of a paper khata, and the piece most digitization tools miss entirely.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1996948"/>
            <a:ext cx="3611880" cy="429768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8536" y="1923796"/>
            <a:ext cx="3611880" cy="429768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8536" y="1923796"/>
            <a:ext cx="128016" cy="4297680"/>
          </a:xfrm>
          <a:prstGeom prst="rect">
            <a:avLst/>
          </a:prstGeom>
          <a:solidFill>
            <a:srgbClr val="1F7A6C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152396"/>
            <a:ext cx="306324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0">
                <a:solidFill>
                  <a:srgbClr val="1F1B16"/>
                </a:solidFill>
                <a:latin typeface="Arial Black"/>
              </a:rPr>
              <a:t>Audit trail on every entry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08576" y="3021076"/>
            <a:ext cx="2372868" cy="310896"/>
          </a:xfrm>
          <a:prstGeom prst="rect">
            <a:avLst/>
          </a:prstGeom>
          <a:solidFill>
            <a:srgbClr val="1F7A6C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F5F1E6"/>
                </a:solidFill>
                <a:latin typeface="Arial"/>
              </a:rPr>
              <a:t>Source + confidence, always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3523996"/>
            <a:ext cx="306324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1B16"/>
                </a:solidFill>
                <a:latin typeface="Arial"/>
              </a:rPr>
              <a:t>Every AI-parsed line keeps its source voice note or photo plus a confidence score — and a one-tap correct. A visible trail, not a black box.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4" y="1996948"/>
            <a:ext cx="3611880" cy="429768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2" y="1923796"/>
            <a:ext cx="3611880" cy="429768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2" y="1923796"/>
            <a:ext cx="128016" cy="4297680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2152396"/>
            <a:ext cx="306324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0">
                <a:solidFill>
                  <a:srgbClr val="1F1B16"/>
                </a:solidFill>
                <a:latin typeface="Arial Black"/>
              </a:rPr>
              <a:t>A direct line to Mawakhat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48472" y="3021076"/>
            <a:ext cx="2683764" cy="310896"/>
          </a:xfrm>
          <a:prstGeom prst="rect">
            <a:avLst/>
          </a:prstGeom>
          <a:solidFill>
            <a:srgbClr val="E9A93D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1F1B16"/>
                </a:solidFill>
                <a:latin typeface="Arial"/>
              </a:rPr>
              <a:t>A real credit rail, not a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523996"/>
            <a:ext cx="306324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1B16"/>
                </a:solidFill>
                <a:latin typeface="Arial"/>
              </a:rPr>
              <a:t>Not a generic “credit score.” The report is shaped for a lending program that already exists, already has ~800 branches, and already has an institutional reason to want exactly this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4356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1B16"/>
                </a:solidFill>
                <a:latin typeface="Arial"/>
              </a:rPr>
              <a:t>Built for how karyana shops actually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749808" cy="310896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1100327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3000" b="0">
                <a:solidFill>
                  <a:srgbClr val="1F1B16"/>
                </a:solidFill>
                <a:latin typeface="Arial Black"/>
              </a:rPr>
              <a:t>Months of voice notes become a credit history a lender can actually read.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41576"/>
            <a:ext cx="2011680" cy="82296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2334768"/>
            <a:ext cx="11091672" cy="173736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61616"/>
            <a:ext cx="11091672" cy="1737360"/>
          </a:xfrm>
          <a:prstGeom prst="rect">
            <a:avLst/>
          </a:prstGeom>
          <a:solidFill>
            <a:srgbClr val="0B5D3B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62784"/>
            <a:ext cx="1042416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5F1E6"/>
                </a:solidFill>
                <a:latin typeface="Arial"/>
              </a:rPr>
              <a:t>For the </a:t>
            </a:r>
            <a:r>
              <a:rPr sz="4000" b="0">
                <a:solidFill>
                  <a:srgbClr val="E9A93D"/>
                </a:solidFill>
                <a:latin typeface="Arial Black"/>
              </a:rPr>
              <a:t>Millions</a:t>
            </a:r>
            <a:r>
              <a:rPr sz="2400" b="0">
                <a:solidFill>
                  <a:srgbClr val="F5F1E6"/>
                </a:solidFill>
                <a:latin typeface="Arial"/>
              </a:rPr>
              <a:t> of unbanked micro-entrepreneurs in Pakistan.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1504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E6"/>
                </a:solidFill>
                <a:latin typeface="Arial"/>
              </a:rPr>
              <a:t>Scale context: only 10.3% of Pakistani adults hold a formal account (World Bank Global Findex).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4255008"/>
            <a:ext cx="11091672" cy="64008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181856"/>
            <a:ext cx="11091672" cy="64008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300728"/>
            <a:ext cx="104241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1B16"/>
                </a:solidFill>
                <a:latin typeface="Arial"/>
              </a:rPr>
              <a:t>He sends the voice note. He snaps the receipt. That's the whole job.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4968240"/>
            <a:ext cx="11091672" cy="64008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895088"/>
            <a:ext cx="11091672" cy="64008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013960"/>
            <a:ext cx="104241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1B16"/>
                </a:solidFill>
                <a:latin typeface="Arial"/>
              </a:rPr>
              <a:t>No typing. The pieces assemble themselves into a ledger entry.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5681472"/>
            <a:ext cx="11091672" cy="64008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608320"/>
            <a:ext cx="11091672" cy="64008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727192"/>
            <a:ext cx="104241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1B16"/>
                </a:solidFill>
                <a:latin typeface="Arial"/>
              </a:rPr>
              <a:t>Every entry is stamped — parsed, priced, and double-checked.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76416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A6332B"/>
                </a:solidFill>
                <a:latin typeface="Arial Black"/>
              </a:rPr>
              <a:t>The behavior already exists. Bizro just makes it legible.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0432" y="1261872"/>
            <a:ext cx="9966960" cy="402336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188720"/>
            <a:ext cx="9966960" cy="402336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5872" y="484632"/>
            <a:ext cx="1325880" cy="1325880"/>
          </a:xfrm>
          <a:prstGeom prst="ellipse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0" y="411480"/>
            <a:ext cx="1325880" cy="1325880"/>
          </a:xfrm>
          <a:prstGeom prst="ellipse">
            <a:avLst/>
          </a:prstGeom>
          <a:solidFill>
            <a:srgbClr val="E9A93D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1F1B16"/>
                </a:solidFill>
                <a:latin typeface="Arial"/>
              </a:rPr>
              <a:t>شکریہ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00200"/>
            <a:ext cx="941832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0" b="0">
                <a:solidFill>
                  <a:srgbClr val="1F1B16"/>
                </a:solidFill>
                <a:latin typeface="Arial Black"/>
              </a:rPr>
              <a:t>Thank you.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74920" y="3063240"/>
            <a:ext cx="2011680" cy="109728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291840"/>
            <a:ext cx="9418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F1B16"/>
                </a:solidFill>
                <a:latin typeface="Arial"/>
              </a:rPr>
              <a:t>Team Bizro · Bano Qabil × Alibaba Cloud AI Hackathon Pakistan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0B5D3B"/>
                </a:solidFill>
                <a:latin typeface="Arial Black"/>
              </a:rPr>
              <a:t>https://bizro-pk.vercel.app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9418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7A6C"/>
                </a:solidFill>
                <a:latin typeface="Arial"/>
              </a:rPr>
              <a:t>Demo available on request.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" y="5742432"/>
            <a:ext cx="9966960" cy="73152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5669280"/>
            <a:ext cx="9966960" cy="731520"/>
          </a:xfrm>
          <a:prstGeom prst="rect">
            <a:avLst/>
          </a:prstGeom>
          <a:solidFill>
            <a:srgbClr val="1F1B16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833872"/>
            <a:ext cx="9418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F1E6"/>
                </a:solidFill>
                <a:latin typeface="Arial"/>
              </a:rPr>
              <a:t>The paper khata, given a memory.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